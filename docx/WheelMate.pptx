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DM Serif Display" charset="1" panose="00000000000000000000"/>
      <p:regular r:id="rId17"/>
    </p:embeddedFont>
    <p:embeddedFont>
      <p:font typeface="Open Sauce Bold" charset="1" panose="00000800000000000000"/>
      <p:regular r:id="rId18"/>
    </p:embeddedFont>
    <p:embeddedFont>
      <p:font typeface="Open Sauce" charset="1" panose="00000500000000000000"/>
      <p:regular r:id="rId19"/>
    </p:embeddedFont>
    <p:embeddedFont>
      <p:font typeface="Times New Roman MT Bold" charset="1" panose="02030802070405020303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8.png" Type="http://schemas.openxmlformats.org/officeDocument/2006/relationships/image"/><Relationship Id="rId11" Target="../media/image19.png" Type="http://schemas.openxmlformats.org/officeDocument/2006/relationships/image"/><Relationship Id="rId12" Target="../media/image20.png" Type="http://schemas.openxmlformats.org/officeDocument/2006/relationships/image"/><Relationship Id="rId2" Target="../media/image4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5.png" Type="http://schemas.openxmlformats.org/officeDocument/2006/relationships/image"/><Relationship Id="rId8" Target="../media/image16.png" Type="http://schemas.openxmlformats.org/officeDocument/2006/relationships/image"/><Relationship Id="rId9" Target="../media/image1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Relationship Id="rId3" Target="../media/image22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194358"/>
            <a:ext cx="18288000" cy="10481358"/>
            <a:chOff x="0" y="0"/>
            <a:chExt cx="24384000" cy="139751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975144"/>
            </a:xfrm>
            <a:custGeom>
              <a:avLst/>
              <a:gdLst/>
              <a:ahLst/>
              <a:cxnLst/>
              <a:rect r="r" b="b" t="t" l="l"/>
              <a:pathLst>
                <a:path h="13975144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975144"/>
                  </a:lnTo>
                  <a:lnTo>
                    <a:pt x="0" y="139751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-932" t="0" r="-932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794239" y="3006744"/>
            <a:ext cx="1788858" cy="1942399"/>
          </a:xfrm>
          <a:custGeom>
            <a:avLst/>
            <a:gdLst/>
            <a:ahLst/>
            <a:cxnLst/>
            <a:rect r="r" b="b" t="t" l="l"/>
            <a:pathLst>
              <a:path h="1942399" w="1788858">
                <a:moveTo>
                  <a:pt x="0" y="0"/>
                </a:moveTo>
                <a:lnTo>
                  <a:pt x="1788858" y="0"/>
                </a:lnTo>
                <a:lnTo>
                  <a:pt x="1788858" y="1942398"/>
                </a:lnTo>
                <a:lnTo>
                  <a:pt x="0" y="19423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6085" t="-10022" r="-98210" b="-3769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113134" y="5143500"/>
            <a:ext cx="602401" cy="628054"/>
          </a:xfrm>
          <a:custGeom>
            <a:avLst/>
            <a:gdLst/>
            <a:ahLst/>
            <a:cxnLst/>
            <a:rect r="r" b="b" t="t" l="l"/>
            <a:pathLst>
              <a:path h="628054" w="602401">
                <a:moveTo>
                  <a:pt x="0" y="0"/>
                </a:moveTo>
                <a:lnTo>
                  <a:pt x="602400" y="0"/>
                </a:lnTo>
                <a:lnTo>
                  <a:pt x="602400" y="628054"/>
                </a:lnTo>
                <a:lnTo>
                  <a:pt x="0" y="6280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29" t="0" r="-2129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583097" y="2617773"/>
            <a:ext cx="9315001" cy="2453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60"/>
              </a:lnSpc>
            </a:pPr>
            <a:r>
              <a:rPr lang="en-US" sz="14400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WheelMate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80542" y="5280708"/>
            <a:ext cx="9926917" cy="405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8"/>
              </a:lnSpc>
            </a:pPr>
            <a:r>
              <a:rPr lang="en-US" b="true" sz="2400" spc="24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BY LEGENDSS TEAM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148372" y="8663769"/>
            <a:ext cx="7991256" cy="537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4"/>
              </a:lnSpc>
            </a:pPr>
            <a:r>
              <a:rPr lang="en-US" sz="3195">
                <a:solidFill>
                  <a:srgbClr val="000000">
                    <a:alpha val="49412"/>
                  </a:srgbClr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legendss.team.2026@gmail.com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077131" y="1304760"/>
            <a:ext cx="2256806" cy="76200"/>
            <a:chOff x="0" y="0"/>
            <a:chExt cx="3009074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2907538" cy="101600"/>
            </a:xfrm>
            <a:custGeom>
              <a:avLst/>
              <a:gdLst/>
              <a:ahLst/>
              <a:cxnLst/>
              <a:rect r="r" b="b" t="t" l="l"/>
              <a:pathLst>
                <a:path h="101600" w="2907538">
                  <a:moveTo>
                    <a:pt x="0" y="0"/>
                  </a:moveTo>
                  <a:lnTo>
                    <a:pt x="2907538" y="0"/>
                  </a:lnTo>
                  <a:lnTo>
                    <a:pt x="2907538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119505" y="1028700"/>
            <a:ext cx="2048989" cy="2048989"/>
            <a:chOff x="0" y="0"/>
            <a:chExt cx="2731986" cy="273198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32024" cy="2732024"/>
            </a:xfrm>
            <a:custGeom>
              <a:avLst/>
              <a:gdLst/>
              <a:ahLst/>
              <a:cxnLst/>
              <a:rect r="r" b="b" t="t" l="l"/>
              <a:pathLst>
                <a:path h="2732024" w="2732024">
                  <a:moveTo>
                    <a:pt x="0" y="0"/>
                  </a:moveTo>
                  <a:lnTo>
                    <a:pt x="2732024" y="0"/>
                  </a:lnTo>
                  <a:lnTo>
                    <a:pt x="2732024" y="2732024"/>
                  </a:lnTo>
                  <a:lnTo>
                    <a:pt x="0" y="2732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1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671128" y="755436"/>
            <a:ext cx="2048989" cy="2048989"/>
            <a:chOff x="0" y="0"/>
            <a:chExt cx="2731986" cy="27319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732024" cy="2732024"/>
            </a:xfrm>
            <a:custGeom>
              <a:avLst/>
              <a:gdLst/>
              <a:ahLst/>
              <a:cxnLst/>
              <a:rect r="r" b="b" t="t" l="l"/>
              <a:pathLst>
                <a:path h="2732024" w="2732024">
                  <a:moveTo>
                    <a:pt x="0" y="0"/>
                  </a:moveTo>
                  <a:lnTo>
                    <a:pt x="2732024" y="0"/>
                  </a:lnTo>
                  <a:lnTo>
                    <a:pt x="2732024" y="2732024"/>
                  </a:lnTo>
                  <a:lnTo>
                    <a:pt x="0" y="27320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t="-1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81916" y="5525423"/>
            <a:ext cx="2047237" cy="2047237"/>
            <a:chOff x="0" y="0"/>
            <a:chExt cx="2729649" cy="272964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729611" cy="2729611"/>
            </a:xfrm>
            <a:custGeom>
              <a:avLst/>
              <a:gdLst/>
              <a:ahLst/>
              <a:cxnLst/>
              <a:rect r="r" b="b" t="t" l="l"/>
              <a:pathLst>
                <a:path h="2729611" w="2729611">
                  <a:moveTo>
                    <a:pt x="0" y="0"/>
                  </a:moveTo>
                  <a:lnTo>
                    <a:pt x="2729611" y="0"/>
                  </a:lnTo>
                  <a:lnTo>
                    <a:pt x="2729611" y="2729611"/>
                  </a:lnTo>
                  <a:lnTo>
                    <a:pt x="0" y="27296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1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123896" y="5724525"/>
            <a:ext cx="2044598" cy="2044598"/>
            <a:chOff x="0" y="0"/>
            <a:chExt cx="2726131" cy="272613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26182" cy="2726182"/>
            </a:xfrm>
            <a:custGeom>
              <a:avLst/>
              <a:gdLst/>
              <a:ahLst/>
              <a:cxnLst/>
              <a:rect r="r" b="b" t="t" l="l"/>
              <a:pathLst>
                <a:path h="2726182" w="2726182">
                  <a:moveTo>
                    <a:pt x="0" y="0"/>
                  </a:moveTo>
                  <a:lnTo>
                    <a:pt x="2726182" y="0"/>
                  </a:lnTo>
                  <a:lnTo>
                    <a:pt x="2726182" y="2726182"/>
                  </a:lnTo>
                  <a:lnTo>
                    <a:pt x="0" y="272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1" b="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3671128" y="5528062"/>
            <a:ext cx="2044598" cy="2044598"/>
            <a:chOff x="0" y="0"/>
            <a:chExt cx="2726131" cy="272613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726182" cy="2726182"/>
            </a:xfrm>
            <a:custGeom>
              <a:avLst/>
              <a:gdLst/>
              <a:ahLst/>
              <a:cxnLst/>
              <a:rect r="r" b="b" t="t" l="l"/>
              <a:pathLst>
                <a:path h="2726182" w="2726182">
                  <a:moveTo>
                    <a:pt x="0" y="0"/>
                  </a:moveTo>
                  <a:lnTo>
                    <a:pt x="2726182" y="0"/>
                  </a:lnTo>
                  <a:lnTo>
                    <a:pt x="2726182" y="2726182"/>
                  </a:lnTo>
                  <a:lnTo>
                    <a:pt x="0" y="27261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1" b="1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578993" y="1665630"/>
            <a:ext cx="3684793" cy="2218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8"/>
              </a:lnSpc>
            </a:pPr>
            <a:r>
              <a:rPr lang="en-US" sz="6398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Нашият екип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181916" y="9163050"/>
            <a:ext cx="3588172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Hardware</a:t>
            </a:r>
          </a:p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Frontend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077131" y="7826273"/>
            <a:ext cx="3588172" cy="1156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Кристиан Велинов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8022643" y="3789045"/>
            <a:ext cx="3588172" cy="143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Team leader</a:t>
            </a:r>
          </a:p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Backend</a:t>
            </a:r>
          </a:p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Hardware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022643" y="3060697"/>
            <a:ext cx="3588172" cy="5949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Явор Пенев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839249" y="4390390"/>
            <a:ext cx="3588172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Backend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752466" y="3014342"/>
            <a:ext cx="3761737" cy="1156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Кристиян Михайлов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119505" y="7826273"/>
            <a:ext cx="3588172" cy="1156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Борислав Стойнев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839249" y="7826273"/>
            <a:ext cx="2889809" cy="1156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Деян Найденов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119505" y="9116597"/>
            <a:ext cx="3588172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Frontend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839249" y="9163050"/>
            <a:ext cx="3588172" cy="45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39"/>
              </a:lnSpc>
            </a:pPr>
            <a:r>
              <a:rPr lang="en-US" sz="2399" b="true">
                <a:solidFill>
                  <a:srgbClr val="004AAD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Backend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166403" y="1119521"/>
            <a:ext cx="9161257" cy="108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Реалните проблеми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66403" y="952500"/>
            <a:ext cx="1759210" cy="76200"/>
            <a:chOff x="0" y="0"/>
            <a:chExt cx="2345614" cy="1016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50800" y="0"/>
              <a:ext cx="2243963" cy="101600"/>
            </a:xfrm>
            <a:custGeom>
              <a:avLst/>
              <a:gdLst/>
              <a:ahLst/>
              <a:cxnLst/>
              <a:rect r="r" b="b" t="t" l="l"/>
              <a:pathLst>
                <a:path h="101600" w="2243963">
                  <a:moveTo>
                    <a:pt x="0" y="0"/>
                  </a:moveTo>
                  <a:lnTo>
                    <a:pt x="2243963" y="0"/>
                  </a:lnTo>
                  <a:lnTo>
                    <a:pt x="224396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0" y="2290435"/>
            <a:ext cx="17981758" cy="7864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00892" indent="-350446" lvl="1">
              <a:lnSpc>
                <a:spcPts val="5194"/>
              </a:lnSpc>
              <a:buFont typeface="Arial"/>
              <a:buChar char="•"/>
            </a:pPr>
            <a:r>
              <a:rPr lang="en-US" b="true" sz="324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При инцидент потребителят често не може да подаде сигнал бързо и самостоятелно.</a:t>
            </a:r>
          </a:p>
          <a:p>
            <a:pPr algn="l">
              <a:lnSpc>
                <a:spcPts val="5194"/>
              </a:lnSpc>
            </a:pPr>
          </a:p>
          <a:p>
            <a:pPr algn="l" marL="700892" indent="-350446" lvl="1">
              <a:lnSpc>
                <a:spcPts val="5194"/>
              </a:lnSpc>
              <a:buFont typeface="Arial"/>
              <a:buChar char="•"/>
            </a:pPr>
            <a:r>
              <a:rPr lang="en-US" b="true" sz="324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Близките нямат начин да следят местоположението и безопасността в реално време.</a:t>
            </a:r>
          </a:p>
          <a:p>
            <a:pPr algn="l">
              <a:lnSpc>
                <a:spcPts val="5194"/>
              </a:lnSpc>
            </a:pPr>
          </a:p>
          <a:p>
            <a:pPr algn="l" marL="700892" indent="-350446" lvl="1">
              <a:lnSpc>
                <a:spcPts val="5194"/>
              </a:lnSpc>
              <a:buFont typeface="Arial"/>
              <a:buChar char="•"/>
            </a:pPr>
            <a:r>
              <a:rPr lang="en-US" b="true" sz="324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Липсва лесен начин за намиране на достъпни маршрути без стълби, бордюри и други препятствия.</a:t>
            </a:r>
          </a:p>
          <a:p>
            <a:pPr algn="l">
              <a:lnSpc>
                <a:spcPts val="5194"/>
              </a:lnSpc>
            </a:pPr>
          </a:p>
          <a:p>
            <a:pPr algn="l" marL="700892" indent="-350446" lvl="1">
              <a:lnSpc>
                <a:spcPts val="5194"/>
              </a:lnSpc>
              <a:buFont typeface="Arial"/>
              <a:buChar char="•"/>
            </a:pPr>
            <a:r>
              <a:rPr lang="en-US" b="true" sz="3246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При падане, обръщане или внезапен проблем помощта често идва твърде късно.</a:t>
            </a:r>
          </a:p>
          <a:p>
            <a:pPr algn="l">
              <a:lnSpc>
                <a:spcPts val="5194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562315" y="663830"/>
            <a:ext cx="3222630" cy="94832"/>
            <a:chOff x="0" y="0"/>
            <a:chExt cx="3452635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3351022" cy="101600"/>
            </a:xfrm>
            <a:custGeom>
              <a:avLst/>
              <a:gdLst/>
              <a:ahLst/>
              <a:cxnLst/>
              <a:rect r="r" b="b" t="t" l="l"/>
              <a:pathLst>
                <a:path h="101600" w="3351022">
                  <a:moveTo>
                    <a:pt x="0" y="0"/>
                  </a:moveTo>
                  <a:lnTo>
                    <a:pt x="3351022" y="0"/>
                  </a:lnTo>
                  <a:lnTo>
                    <a:pt x="3351022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562315" y="644362"/>
            <a:ext cx="7619509" cy="108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Нашите решения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77120" y="1883172"/>
            <a:ext cx="17556615" cy="7037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Модулна платформа за интелигентна инвалидна количка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Всеки slave модул работи независимо и може да се закупува отделно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Master модулът (ESP32) се свързва към тях и управлява комуникацията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Модулната структура позволява лесно прикрепяне към почти всяка количка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Мобилна апликация за проследяване на локация и активност от гледачи и доброволци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Надеждна система за сигнализация при помощ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Активиране чрез паник бутон, прекомерен наклон или необичайни G-сили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Вграден навигационен модул стриймва инструкции от апликацията към дисплей</a:t>
            </a:r>
          </a:p>
          <a:p>
            <a:pPr algn="l" marL="660573" indent="-330287" lvl="1">
              <a:lnSpc>
                <a:spcPts val="4284"/>
              </a:lnSpc>
              <a:spcBef>
                <a:spcPct val="0"/>
              </a:spcBef>
              <a:buFont typeface="Arial"/>
              <a:buChar char="•"/>
            </a:pPr>
            <a:r>
              <a:rPr lang="en-US" sz="3059" spc="304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Hands-free ориентация, подходяща за ръчно задвижени колички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28303" y="990600"/>
            <a:ext cx="2209429" cy="76200"/>
            <a:chOff x="0" y="0"/>
            <a:chExt cx="2945905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2844292" cy="101600"/>
            </a:xfrm>
            <a:custGeom>
              <a:avLst/>
              <a:gdLst/>
              <a:ahLst/>
              <a:cxnLst/>
              <a:rect r="r" b="b" t="t" l="l"/>
              <a:pathLst>
                <a:path h="101600" w="2844292">
                  <a:moveTo>
                    <a:pt x="0" y="0"/>
                  </a:moveTo>
                  <a:lnTo>
                    <a:pt x="2844292" y="0"/>
                  </a:lnTo>
                  <a:lnTo>
                    <a:pt x="2844292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aphicFrame>
        <p:nvGraphicFramePr>
          <p:cNvPr name="Table 6" id="6"/>
          <p:cNvGraphicFramePr>
            <a:graphicFrameLocks noGrp="true"/>
          </p:cNvGraphicFramePr>
          <p:nvPr/>
        </p:nvGraphicFramePr>
        <p:xfrm>
          <a:off x="11144781" y="1168114"/>
          <a:ext cx="6586410" cy="8112003"/>
        </p:xfrm>
        <a:graphic>
          <a:graphicData uri="http://schemas.openxmlformats.org/drawingml/2006/table">
            <a:tbl>
              <a:tblPr/>
              <a:tblGrid>
                <a:gridCol w="2338100"/>
                <a:gridCol w="2124155"/>
                <a:gridCol w="2124155"/>
              </a:tblGrid>
              <a:tr h="126980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8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Функция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7"/>
                        </a:lnSpc>
                        <a:defRPr/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Wheel</a:t>
                      </a:r>
                      <a:endParaRPr lang="en-US" sz="1100"/>
                    </a:p>
                    <a:p>
                      <a:pPr algn="ctr">
                        <a:lnSpc>
                          <a:spcPts val="3358"/>
                        </a:lnSpc>
                      </a:pPr>
                      <a:r>
                        <a:rPr lang="en-US" sz="2400" b="true">
                          <a:solidFill>
                            <a:srgbClr val="FFFFFF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Mate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357"/>
                        </a:lnSpc>
                        <a:defRPr/>
                      </a:pPr>
                      <a:r>
                        <a:rPr lang="en-US" sz="2400">
                          <a:solidFill>
                            <a:srgbClr val="FFFFFF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Други</a:t>
                      </a:r>
                      <a:endParaRPr lang="en-US" sz="1100"/>
                    </a:p>
                    <a:p>
                      <a:pPr algn="ctr">
                        <a:lnSpc>
                          <a:spcPts val="3358"/>
                        </a:lnSpc>
                      </a:pPr>
                      <a:r>
                        <a:rPr lang="en-US" sz="2400">
                          <a:solidFill>
                            <a:srgbClr val="FFFFFF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Решения</a:t>
                      </a:r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919"/>
                    </a:solidFill>
                  </a:tcPr>
                </a:tc>
              </a:tr>
              <a:tr h="162657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Съвместимост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405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Модулируемост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5096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Цена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2407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en-US" sz="2499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Удобство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X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905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Freeform 7" id="7"/>
          <p:cNvSpPr/>
          <p:nvPr/>
        </p:nvSpPr>
        <p:spPr>
          <a:xfrm flipH="false" flipV="false" rot="0">
            <a:off x="13831687" y="2585128"/>
            <a:ext cx="1347343" cy="1347343"/>
          </a:xfrm>
          <a:custGeom>
            <a:avLst/>
            <a:gdLst/>
            <a:ahLst/>
            <a:cxnLst/>
            <a:rect r="r" b="b" t="t" l="l"/>
            <a:pathLst>
              <a:path h="1347343" w="1347343">
                <a:moveTo>
                  <a:pt x="0" y="0"/>
                </a:moveTo>
                <a:lnTo>
                  <a:pt x="1347343" y="0"/>
                </a:lnTo>
                <a:lnTo>
                  <a:pt x="1347343" y="1347343"/>
                </a:lnTo>
                <a:lnTo>
                  <a:pt x="0" y="13473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30670" y="1072864"/>
            <a:ext cx="10399166" cy="8540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98"/>
              </a:lnSpc>
            </a:pPr>
            <a:r>
              <a:rPr lang="en-US" sz="4999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С какво сме по-добри от другите?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80711" y="9537292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90812" y="3062522"/>
            <a:ext cx="9542242" cy="1577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606" indent="-431803" lvl="1">
              <a:lnSpc>
                <a:spcPts val="6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0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Съвместим с почти всички видове инвалидни колички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90812" y="5173744"/>
            <a:ext cx="9542242" cy="1577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606" indent="-431803" lvl="1">
              <a:lnSpc>
                <a:spcPts val="6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0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Модулируемост, не затворена система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0812" y="6929719"/>
            <a:ext cx="9693857" cy="23875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63606" indent="-431803" lvl="1">
              <a:lnSpc>
                <a:spcPts val="64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400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Широко достъпен, по-евтин, по-удобен и по-персонализиран от конкуренцията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831687" y="4232088"/>
            <a:ext cx="1347343" cy="1347343"/>
          </a:xfrm>
          <a:custGeom>
            <a:avLst/>
            <a:gdLst/>
            <a:ahLst/>
            <a:cxnLst/>
            <a:rect r="r" b="b" t="t" l="l"/>
            <a:pathLst>
              <a:path h="1347343" w="1347343">
                <a:moveTo>
                  <a:pt x="0" y="0"/>
                </a:moveTo>
                <a:lnTo>
                  <a:pt x="1347343" y="0"/>
                </a:lnTo>
                <a:lnTo>
                  <a:pt x="1347343" y="1347343"/>
                </a:lnTo>
                <a:lnTo>
                  <a:pt x="0" y="13473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831687" y="6043693"/>
            <a:ext cx="1347343" cy="1347343"/>
          </a:xfrm>
          <a:custGeom>
            <a:avLst/>
            <a:gdLst/>
            <a:ahLst/>
            <a:cxnLst/>
            <a:rect r="r" b="b" t="t" l="l"/>
            <a:pathLst>
              <a:path h="1347343" w="1347343">
                <a:moveTo>
                  <a:pt x="0" y="0"/>
                </a:moveTo>
                <a:lnTo>
                  <a:pt x="1347343" y="0"/>
                </a:lnTo>
                <a:lnTo>
                  <a:pt x="1347343" y="1347343"/>
                </a:lnTo>
                <a:lnTo>
                  <a:pt x="0" y="13473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3831687" y="7686311"/>
            <a:ext cx="1347343" cy="1347343"/>
          </a:xfrm>
          <a:custGeom>
            <a:avLst/>
            <a:gdLst/>
            <a:ahLst/>
            <a:cxnLst/>
            <a:rect r="r" b="b" t="t" l="l"/>
            <a:pathLst>
              <a:path h="1347343" w="1347343">
                <a:moveTo>
                  <a:pt x="0" y="0"/>
                </a:moveTo>
                <a:lnTo>
                  <a:pt x="1347343" y="0"/>
                </a:lnTo>
                <a:lnTo>
                  <a:pt x="1347343" y="1347343"/>
                </a:lnTo>
                <a:lnTo>
                  <a:pt x="0" y="134734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2228760" y="952500"/>
            <a:ext cx="1801435" cy="76200"/>
            <a:chOff x="0" y="0"/>
            <a:chExt cx="2401913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2300351" cy="101600"/>
            </a:xfrm>
            <a:custGeom>
              <a:avLst/>
              <a:gdLst/>
              <a:ahLst/>
              <a:cxnLst/>
              <a:rect r="r" b="b" t="t" l="l"/>
              <a:pathLst>
                <a:path h="101600" w="2300351">
                  <a:moveTo>
                    <a:pt x="0" y="0"/>
                  </a:moveTo>
                  <a:lnTo>
                    <a:pt x="2300351" y="0"/>
                  </a:lnTo>
                  <a:lnTo>
                    <a:pt x="2300351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653063" y="5339620"/>
            <a:ext cx="3463614" cy="3600850"/>
          </a:xfrm>
          <a:custGeom>
            <a:avLst/>
            <a:gdLst/>
            <a:ahLst/>
            <a:cxnLst/>
            <a:rect r="r" b="b" t="t" l="l"/>
            <a:pathLst>
              <a:path h="3600850" w="3463614">
                <a:moveTo>
                  <a:pt x="0" y="0"/>
                </a:moveTo>
                <a:lnTo>
                  <a:pt x="3463613" y="0"/>
                </a:lnTo>
                <a:lnTo>
                  <a:pt x="3463613" y="3600850"/>
                </a:lnTo>
                <a:lnTo>
                  <a:pt x="0" y="36008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5537939" y="5339620"/>
            <a:ext cx="3463614" cy="3600850"/>
          </a:xfrm>
          <a:custGeom>
            <a:avLst/>
            <a:gdLst/>
            <a:ahLst/>
            <a:cxnLst/>
            <a:rect r="r" b="b" t="t" l="l"/>
            <a:pathLst>
              <a:path h="3600850" w="3463614">
                <a:moveTo>
                  <a:pt x="0" y="0"/>
                </a:moveTo>
                <a:lnTo>
                  <a:pt x="3463614" y="0"/>
                </a:lnTo>
                <a:lnTo>
                  <a:pt x="3463614" y="3600850"/>
                </a:lnTo>
                <a:lnTo>
                  <a:pt x="0" y="36008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7787086" y="990600"/>
            <a:ext cx="3463614" cy="3600850"/>
          </a:xfrm>
          <a:custGeom>
            <a:avLst/>
            <a:gdLst/>
            <a:ahLst/>
            <a:cxnLst/>
            <a:rect r="r" b="b" t="t" l="l"/>
            <a:pathLst>
              <a:path h="3600850" w="3463614">
                <a:moveTo>
                  <a:pt x="0" y="0"/>
                </a:moveTo>
                <a:lnTo>
                  <a:pt x="3463614" y="0"/>
                </a:lnTo>
                <a:lnTo>
                  <a:pt x="3463614" y="3600850"/>
                </a:lnTo>
                <a:lnTo>
                  <a:pt x="0" y="36008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882645" y="5267411"/>
            <a:ext cx="3463614" cy="3600602"/>
          </a:xfrm>
          <a:custGeom>
            <a:avLst/>
            <a:gdLst/>
            <a:ahLst/>
            <a:cxnLst/>
            <a:rect r="r" b="b" t="t" l="l"/>
            <a:pathLst>
              <a:path h="3600602" w="3463614">
                <a:moveTo>
                  <a:pt x="0" y="0"/>
                </a:moveTo>
                <a:lnTo>
                  <a:pt x="3463614" y="0"/>
                </a:lnTo>
                <a:lnTo>
                  <a:pt x="3463614" y="3600602"/>
                </a:lnTo>
                <a:lnTo>
                  <a:pt x="0" y="360060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3055575" y="990600"/>
            <a:ext cx="3463614" cy="3600850"/>
          </a:xfrm>
          <a:custGeom>
            <a:avLst/>
            <a:gdLst/>
            <a:ahLst/>
            <a:cxnLst/>
            <a:rect r="r" b="b" t="t" l="l"/>
            <a:pathLst>
              <a:path h="3600850" w="3463614">
                <a:moveTo>
                  <a:pt x="0" y="0"/>
                </a:moveTo>
                <a:lnTo>
                  <a:pt x="3463613" y="0"/>
                </a:lnTo>
                <a:lnTo>
                  <a:pt x="3463613" y="3600850"/>
                </a:lnTo>
                <a:lnTo>
                  <a:pt x="0" y="36008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704875" y="5267392"/>
            <a:ext cx="3463614" cy="3600850"/>
          </a:xfrm>
          <a:custGeom>
            <a:avLst/>
            <a:gdLst/>
            <a:ahLst/>
            <a:cxnLst/>
            <a:rect r="r" b="b" t="t" l="l"/>
            <a:pathLst>
              <a:path h="3600850" w="3463614">
                <a:moveTo>
                  <a:pt x="0" y="0"/>
                </a:moveTo>
                <a:lnTo>
                  <a:pt x="3463614" y="0"/>
                </a:lnTo>
                <a:lnTo>
                  <a:pt x="3463614" y="3600850"/>
                </a:lnTo>
                <a:lnTo>
                  <a:pt x="0" y="360085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696535" y="5520328"/>
            <a:ext cx="3420142" cy="3420142"/>
            <a:chOff x="0" y="0"/>
            <a:chExt cx="4560189" cy="456018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560189" cy="4560189"/>
            </a:xfrm>
            <a:custGeom>
              <a:avLst/>
              <a:gdLst/>
              <a:ahLst/>
              <a:cxnLst/>
              <a:rect r="r" b="b" t="t" l="l"/>
              <a:pathLst>
                <a:path h="4560189" w="4560189">
                  <a:moveTo>
                    <a:pt x="0" y="0"/>
                  </a:moveTo>
                  <a:lnTo>
                    <a:pt x="4560189" y="0"/>
                  </a:lnTo>
                  <a:lnTo>
                    <a:pt x="4560189" y="4560189"/>
                  </a:lnTo>
                  <a:lnTo>
                    <a:pt x="0" y="4560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50000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605891" y="5537668"/>
            <a:ext cx="3114113" cy="3204753"/>
            <a:chOff x="0" y="0"/>
            <a:chExt cx="4152151" cy="427300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152138" cy="4273042"/>
            </a:xfrm>
            <a:custGeom>
              <a:avLst/>
              <a:gdLst/>
              <a:ahLst/>
              <a:cxnLst/>
              <a:rect r="r" b="b" t="t" l="l"/>
              <a:pathLst>
                <a:path h="4273042" w="4152138">
                  <a:moveTo>
                    <a:pt x="0" y="0"/>
                  </a:moveTo>
                  <a:lnTo>
                    <a:pt x="4152138" y="0"/>
                  </a:lnTo>
                  <a:lnTo>
                    <a:pt x="4152138" y="4273042"/>
                  </a:lnTo>
                  <a:lnTo>
                    <a:pt x="0" y="42730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50000"/>
              </a:blip>
              <a:stretch>
                <a:fillRect l="-25" t="0" r="-26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112365" y="1451054"/>
            <a:ext cx="2813056" cy="2813056"/>
            <a:chOff x="0" y="0"/>
            <a:chExt cx="3750742" cy="375074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0691" cy="3750691"/>
            </a:xfrm>
            <a:custGeom>
              <a:avLst/>
              <a:gdLst/>
              <a:ahLst/>
              <a:cxnLst/>
              <a:rect r="r" b="b" t="t" l="l"/>
              <a:pathLst>
                <a:path h="3750691" w="3750691">
                  <a:moveTo>
                    <a:pt x="0" y="0"/>
                  </a:moveTo>
                  <a:lnTo>
                    <a:pt x="3750691" y="0"/>
                  </a:lnTo>
                  <a:lnTo>
                    <a:pt x="3750691" y="3750691"/>
                  </a:lnTo>
                  <a:lnTo>
                    <a:pt x="0" y="3750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-7855" r="-1" b="-7856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3055575" y="1768411"/>
            <a:ext cx="3345980" cy="2045227"/>
            <a:chOff x="0" y="0"/>
            <a:chExt cx="4461307" cy="272696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61256" cy="2726944"/>
            </a:xfrm>
            <a:custGeom>
              <a:avLst/>
              <a:gdLst/>
              <a:ahLst/>
              <a:cxnLst/>
              <a:rect r="r" b="b" t="t" l="l"/>
              <a:pathLst>
                <a:path h="2726944" w="4461256">
                  <a:moveTo>
                    <a:pt x="0" y="0"/>
                  </a:moveTo>
                  <a:lnTo>
                    <a:pt x="4461256" y="0"/>
                  </a:lnTo>
                  <a:lnTo>
                    <a:pt x="4461256" y="2726944"/>
                  </a:lnTo>
                  <a:lnTo>
                    <a:pt x="0" y="27269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70000"/>
              </a:blip>
              <a:stretch>
                <a:fillRect l="0" t="-102" r="-1" b="-103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3518385" y="5217900"/>
            <a:ext cx="3837070" cy="3837070"/>
            <a:chOff x="0" y="0"/>
            <a:chExt cx="5116093" cy="511609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16068" cy="5116068"/>
            </a:xfrm>
            <a:custGeom>
              <a:avLst/>
              <a:gdLst/>
              <a:ahLst/>
              <a:cxnLst/>
              <a:rect r="r" b="b" t="t" l="l"/>
              <a:pathLst>
                <a:path h="5116068" w="5116068">
                  <a:moveTo>
                    <a:pt x="0" y="0"/>
                  </a:moveTo>
                  <a:lnTo>
                    <a:pt x="5116068" y="0"/>
                  </a:lnTo>
                  <a:lnTo>
                    <a:pt x="5116068" y="5116068"/>
                  </a:lnTo>
                  <a:lnTo>
                    <a:pt x="0" y="51160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>
                <a:alphaModFix amt="50000"/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980276" y="5463445"/>
            <a:ext cx="3341799" cy="3345980"/>
            <a:chOff x="0" y="0"/>
            <a:chExt cx="4455732" cy="446130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455668" cy="4461256"/>
            </a:xfrm>
            <a:custGeom>
              <a:avLst/>
              <a:gdLst/>
              <a:ahLst/>
              <a:cxnLst/>
              <a:rect r="r" b="b" t="t" l="l"/>
              <a:pathLst>
                <a:path h="4461256" w="4455668">
                  <a:moveTo>
                    <a:pt x="0" y="0"/>
                  </a:moveTo>
                  <a:lnTo>
                    <a:pt x="4455668" y="0"/>
                  </a:lnTo>
                  <a:lnTo>
                    <a:pt x="4455668" y="4461256"/>
                  </a:lnTo>
                  <a:lnTo>
                    <a:pt x="0" y="44612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50000"/>
              </a:blip>
              <a:stretch>
                <a:fillRect l="-62" t="0" r="-63" b="-1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53063" y="1129484"/>
            <a:ext cx="5333799" cy="1184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8">
                <a:solidFill>
                  <a:srgbClr val="004AAD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Технологии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7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-902574" y="8864470"/>
            <a:ext cx="6262667" cy="946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98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Spring Boot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384282" y="4162214"/>
            <a:ext cx="2806198" cy="1155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Tailwind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4807002" y="8854945"/>
            <a:ext cx="4711891" cy="196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Postgre SQL</a:t>
            </a:r>
          </a:p>
          <a:p>
            <a:pPr algn="ctr">
              <a:lnSpc>
                <a:spcPts val="8000"/>
              </a:lnSpc>
            </a:pPr>
          </a:p>
        </p:txBody>
      </p:sp>
      <p:sp>
        <p:nvSpPr>
          <p:cNvPr name="TextBox 29" id="29"/>
          <p:cNvSpPr txBox="true"/>
          <p:nvPr/>
        </p:nvSpPr>
        <p:spPr>
          <a:xfrm rot="0">
            <a:off x="7115340" y="4262225"/>
            <a:ext cx="4807106" cy="955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React Native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4150950" y="8854945"/>
            <a:ext cx="2387375" cy="1155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ESP32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242042" y="8854945"/>
            <a:ext cx="2813533" cy="1155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4999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Arduino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763364" y="674152"/>
            <a:ext cx="2711077" cy="87848"/>
            <a:chOff x="0" y="0"/>
            <a:chExt cx="3135490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3033903" cy="101600"/>
            </a:xfrm>
            <a:custGeom>
              <a:avLst/>
              <a:gdLst/>
              <a:ahLst/>
              <a:cxnLst/>
              <a:rect r="r" b="b" t="t" l="l"/>
              <a:pathLst>
                <a:path h="101600" w="3033903">
                  <a:moveTo>
                    <a:pt x="0" y="0"/>
                  </a:moveTo>
                  <a:lnTo>
                    <a:pt x="3033903" y="0"/>
                  </a:lnTo>
                  <a:lnTo>
                    <a:pt x="303390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719078" y="914400"/>
            <a:ext cx="10399166" cy="1199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Roadmap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18903" y="2804655"/>
            <a:ext cx="3440954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0"/>
              </a:lnSpc>
            </a:pPr>
            <a:r>
              <a:rPr lang="en-US" sz="32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Brainstorming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18903" y="3583800"/>
            <a:ext cx="3237205" cy="143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Измисляне на идеи и споделянето им с отбора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56878" y="5695950"/>
            <a:ext cx="15974254" cy="38100"/>
            <a:chOff x="0" y="0"/>
            <a:chExt cx="21299005" cy="50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25400" y="0"/>
              <a:ext cx="21248243" cy="50800"/>
            </a:xfrm>
            <a:custGeom>
              <a:avLst/>
              <a:gdLst/>
              <a:ahLst/>
              <a:cxnLst/>
              <a:rect r="r" b="b" t="t" l="l"/>
              <a:pathLst>
                <a:path h="50800" w="21248243">
                  <a:moveTo>
                    <a:pt x="0" y="0"/>
                  </a:moveTo>
                  <a:lnTo>
                    <a:pt x="21248243" y="0"/>
                  </a:lnTo>
                  <a:lnTo>
                    <a:pt x="21248243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728378" y="3766614"/>
            <a:ext cx="38100" cy="1978800"/>
            <a:chOff x="0" y="0"/>
            <a:chExt cx="50800" cy="2638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800" cy="2638425"/>
            </a:xfrm>
            <a:custGeom>
              <a:avLst/>
              <a:gdLst/>
              <a:ahLst/>
              <a:cxnLst/>
              <a:rect r="r" b="b" t="t" l="l"/>
              <a:pathLst>
                <a:path h="2638425" w="50800">
                  <a:moveTo>
                    <a:pt x="50800" y="25400"/>
                  </a:moveTo>
                  <a:lnTo>
                    <a:pt x="50800" y="2613025"/>
                  </a:lnTo>
                  <a:cubicBezTo>
                    <a:pt x="50800" y="2626995"/>
                    <a:pt x="39370" y="2638425"/>
                    <a:pt x="25400" y="2638425"/>
                  </a:cubicBezTo>
                  <a:cubicBezTo>
                    <a:pt x="11430" y="2638425"/>
                    <a:pt x="0" y="2626995"/>
                    <a:pt x="0" y="2613025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5720344" y="6896100"/>
            <a:ext cx="3968334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0"/>
              </a:lnSpc>
            </a:pPr>
            <a:r>
              <a:rPr lang="en-US" sz="32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Функционалности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720344" y="7675245"/>
            <a:ext cx="4006434" cy="143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Измисляне на архитектура и изчистване на функционалности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5329819" y="5665613"/>
            <a:ext cx="38100" cy="1978800"/>
            <a:chOff x="0" y="0"/>
            <a:chExt cx="50800" cy="26384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0800" cy="2638425"/>
            </a:xfrm>
            <a:custGeom>
              <a:avLst/>
              <a:gdLst/>
              <a:ahLst/>
              <a:cxnLst/>
              <a:rect r="r" b="b" t="t" l="l"/>
              <a:pathLst>
                <a:path h="2638425" w="50800">
                  <a:moveTo>
                    <a:pt x="50800" y="25400"/>
                  </a:moveTo>
                  <a:lnTo>
                    <a:pt x="50800" y="2613025"/>
                  </a:lnTo>
                  <a:cubicBezTo>
                    <a:pt x="50800" y="2626995"/>
                    <a:pt x="39370" y="2638425"/>
                    <a:pt x="25400" y="2638425"/>
                  </a:cubicBezTo>
                  <a:cubicBezTo>
                    <a:pt x="11430" y="2638425"/>
                    <a:pt x="0" y="2626995"/>
                    <a:pt x="0" y="2613025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0079203" y="2804655"/>
            <a:ext cx="3440954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0"/>
              </a:lnSpc>
            </a:pPr>
            <a:r>
              <a:rPr lang="en-US" sz="32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Разработка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079203" y="3583800"/>
            <a:ext cx="3900887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Разработка на желаните функционалности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688678" y="3766614"/>
            <a:ext cx="38100" cy="1978800"/>
            <a:chOff x="0" y="0"/>
            <a:chExt cx="50800" cy="2638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0800" cy="2638425"/>
            </a:xfrm>
            <a:custGeom>
              <a:avLst/>
              <a:gdLst/>
              <a:ahLst/>
              <a:cxnLst/>
              <a:rect r="r" b="b" t="t" l="l"/>
              <a:pathLst>
                <a:path h="2638425" w="50800">
                  <a:moveTo>
                    <a:pt x="50800" y="25400"/>
                  </a:moveTo>
                  <a:lnTo>
                    <a:pt x="50800" y="2613025"/>
                  </a:lnTo>
                  <a:cubicBezTo>
                    <a:pt x="50800" y="2626995"/>
                    <a:pt x="39370" y="2638425"/>
                    <a:pt x="25400" y="2638425"/>
                  </a:cubicBezTo>
                  <a:cubicBezTo>
                    <a:pt x="11430" y="2638425"/>
                    <a:pt x="0" y="2626995"/>
                    <a:pt x="0" y="2613025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3680653" y="6896100"/>
            <a:ext cx="3440954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0"/>
              </a:lnSpc>
            </a:pPr>
            <a:r>
              <a:rPr lang="en-US" sz="3200" b="true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Оформяне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680653" y="7675245"/>
            <a:ext cx="3578647" cy="944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Quality Assurance и изчистване на бъгове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3290128" y="5665613"/>
            <a:ext cx="38100" cy="1978800"/>
            <a:chOff x="0" y="0"/>
            <a:chExt cx="50800" cy="26384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0800" cy="2638425"/>
            </a:xfrm>
            <a:custGeom>
              <a:avLst/>
              <a:gdLst/>
              <a:ahLst/>
              <a:cxnLst/>
              <a:rect r="r" b="b" t="t" l="l"/>
              <a:pathLst>
                <a:path h="2638425" w="50800">
                  <a:moveTo>
                    <a:pt x="50800" y="25400"/>
                  </a:moveTo>
                  <a:lnTo>
                    <a:pt x="50800" y="2613025"/>
                  </a:lnTo>
                  <a:cubicBezTo>
                    <a:pt x="50800" y="2626995"/>
                    <a:pt x="39370" y="2638425"/>
                    <a:pt x="25400" y="2638425"/>
                  </a:cubicBezTo>
                  <a:cubicBezTo>
                    <a:pt x="11430" y="2638425"/>
                    <a:pt x="0" y="2626995"/>
                    <a:pt x="0" y="2613025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28303" y="990600"/>
            <a:ext cx="1569615" cy="76200"/>
            <a:chOff x="0" y="0"/>
            <a:chExt cx="2092820" cy="1016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0800" y="0"/>
              <a:ext cx="1991233" cy="101600"/>
            </a:xfrm>
            <a:custGeom>
              <a:avLst/>
              <a:gdLst/>
              <a:ahLst/>
              <a:cxnLst/>
              <a:rect r="r" b="b" t="t" l="l"/>
              <a:pathLst>
                <a:path h="101600" w="1991233">
                  <a:moveTo>
                    <a:pt x="0" y="0"/>
                  </a:moveTo>
                  <a:lnTo>
                    <a:pt x="1991233" y="0"/>
                  </a:lnTo>
                  <a:lnTo>
                    <a:pt x="199123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2039662" y="2376160"/>
            <a:ext cx="14208675" cy="7477315"/>
          </a:xfrm>
          <a:custGeom>
            <a:avLst/>
            <a:gdLst/>
            <a:ahLst/>
            <a:cxnLst/>
            <a:rect r="r" b="b" t="t" l="l"/>
            <a:pathLst>
              <a:path h="7477315" w="14208675">
                <a:moveTo>
                  <a:pt x="0" y="0"/>
                </a:moveTo>
                <a:lnTo>
                  <a:pt x="14208676" y="0"/>
                </a:lnTo>
                <a:lnTo>
                  <a:pt x="14208676" y="7477316"/>
                </a:lnTo>
                <a:lnTo>
                  <a:pt x="0" y="74773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66403" y="1119521"/>
            <a:ext cx="5388881" cy="1085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Architecture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28303" y="990600"/>
            <a:ext cx="1569615" cy="76200"/>
            <a:chOff x="0" y="0"/>
            <a:chExt cx="2092820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1991233" cy="101600"/>
            </a:xfrm>
            <a:custGeom>
              <a:avLst/>
              <a:gdLst/>
              <a:ahLst/>
              <a:cxnLst/>
              <a:rect r="r" b="b" t="t" l="l"/>
              <a:pathLst>
                <a:path h="101600" w="1991233">
                  <a:moveTo>
                    <a:pt x="0" y="0"/>
                  </a:moveTo>
                  <a:lnTo>
                    <a:pt x="1991233" y="0"/>
                  </a:lnTo>
                  <a:lnTo>
                    <a:pt x="199123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166403" y="1119521"/>
            <a:ext cx="3822792" cy="1199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Demo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671128" y="9103995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27" r="0" b="-2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28303" y="990600"/>
            <a:ext cx="2612460" cy="76200"/>
            <a:chOff x="0" y="0"/>
            <a:chExt cx="3483280" cy="1016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50800" y="0"/>
              <a:ext cx="3381629" cy="101600"/>
            </a:xfrm>
            <a:custGeom>
              <a:avLst/>
              <a:gdLst/>
              <a:ahLst/>
              <a:cxnLst/>
              <a:rect r="r" b="b" t="t" l="l"/>
              <a:pathLst>
                <a:path h="101600" w="3381629">
                  <a:moveTo>
                    <a:pt x="0" y="0"/>
                  </a:moveTo>
                  <a:lnTo>
                    <a:pt x="3381629" y="0"/>
                  </a:lnTo>
                  <a:lnTo>
                    <a:pt x="3381629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0000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5683367" y="0"/>
            <a:ext cx="12604633" cy="10287000"/>
            <a:chOff x="0" y="0"/>
            <a:chExt cx="16806177" cy="13716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806163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6806163">
                  <a:moveTo>
                    <a:pt x="0" y="0"/>
                  </a:moveTo>
                  <a:lnTo>
                    <a:pt x="16806163" y="0"/>
                  </a:lnTo>
                  <a:lnTo>
                    <a:pt x="1680616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41897" r="0" b="-41897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66403" y="1119521"/>
            <a:ext cx="3822792" cy="23329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Вашите</a:t>
            </a:r>
          </a:p>
          <a:p>
            <a:pPr algn="l">
              <a:lnSpc>
                <a:spcPts val="8958"/>
              </a:lnSpc>
            </a:pPr>
            <a:r>
              <a:rPr lang="en-US" sz="6398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Въпроси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38707" y="9182100"/>
            <a:ext cx="3450479" cy="311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0" t="-12" r="0" b="-12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1732102" y="2181729"/>
            <a:ext cx="14823796" cy="4784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200"/>
              </a:lnSpc>
            </a:pPr>
            <a:r>
              <a:rPr lang="en-US" sz="13000" b="true">
                <a:solidFill>
                  <a:srgbClr val="004AAD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Благодарим ви за вниманието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DAHFKWVrEEg</dc:identifier>
  <dcterms:modified xsi:type="dcterms:W3CDTF">2011-08-01T06:04:30Z</dcterms:modified>
  <cp:revision>1</cp:revision>
  <dc:title>WheelMate</dc:title>
</cp:coreProperties>
</file>